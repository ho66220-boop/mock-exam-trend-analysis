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월별 평균 백분위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상위권</c:v>
                </c:pt>
              </c:strCache>
            </c:strRef>
          </c:tx>
          <c:spPr>
            <a:ln>
              <a:solidFill>
                <a:srgbClr val="2F80ED"/>
              </a:solidFill>
            </a:ln>
          </c:spPr>
          <c:marker>
            <c:spPr>
              <a:solidFill>
                <a:srgbClr val="2F80ED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9월(사)</c:v>
                </c:pt>
                <c:pt idx="7">
                  <c:v>9월(평)</c:v>
                </c:pt>
                <c:pt idx="8">
                  <c:v>10월</c:v>
                </c:pt>
                <c:pt idx="9">
                  <c:v>11월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89.0</c:v>
                </c:pt>
                <c:pt idx="1">
                  <c:v>90.9</c:v>
                </c:pt>
                <c:pt idx="2">
                  <c:v>89.6</c:v>
                </c:pt>
                <c:pt idx="3">
                  <c:v>89.5</c:v>
                </c:pt>
                <c:pt idx="4">
                  <c:v>90.2</c:v>
                </c:pt>
                <c:pt idx="5">
                  <c:v>90.4</c:v>
                </c:pt>
                <c:pt idx="6">
                  <c:v>92.7</c:v>
                </c:pt>
                <c:pt idx="7">
                  <c:v>92.2</c:v>
                </c:pt>
                <c:pt idx="8">
                  <c:v>91.5</c:v>
                </c:pt>
                <c:pt idx="9">
                  <c:v>91.9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중위권</c:v>
                </c:pt>
              </c:strCache>
            </c:strRef>
          </c:tx>
          <c:spPr>
            <a:ln>
              <a:solidFill>
                <a:srgbClr val="27AE60"/>
              </a:solidFill>
            </a:ln>
          </c:spPr>
          <c:marker>
            <c:spPr>
              <a:solidFill>
                <a:srgbClr val="27AE60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9월(사)</c:v>
                </c:pt>
                <c:pt idx="7">
                  <c:v>9월(평)</c:v>
                </c:pt>
                <c:pt idx="8">
                  <c:v>10월</c:v>
                </c:pt>
                <c:pt idx="9">
                  <c:v>11월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76.5</c:v>
                </c:pt>
                <c:pt idx="1">
                  <c:v>77.6</c:v>
                </c:pt>
                <c:pt idx="2">
                  <c:v>77.7</c:v>
                </c:pt>
                <c:pt idx="3">
                  <c:v>76.9</c:v>
                </c:pt>
                <c:pt idx="4">
                  <c:v>79.2</c:v>
                </c:pt>
                <c:pt idx="5">
                  <c:v>78.7</c:v>
                </c:pt>
                <c:pt idx="6">
                  <c:v>79.4</c:v>
                </c:pt>
                <c:pt idx="7">
                  <c:v>79.7</c:v>
                </c:pt>
                <c:pt idx="8">
                  <c:v>81.1</c:v>
                </c:pt>
                <c:pt idx="9">
                  <c:v>81.0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하위권</c:v>
                </c:pt>
              </c:strCache>
            </c:strRef>
          </c:tx>
          <c:spPr>
            <a:ln>
              <a:solidFill>
                <a:srgbClr val="F2994A"/>
              </a:solidFill>
            </a:ln>
          </c:spPr>
          <c:marker>
            <c:spPr>
              <a:solidFill>
                <a:srgbClr val="F2994A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9월(사)</c:v>
                </c:pt>
                <c:pt idx="7">
                  <c:v>9월(평)</c:v>
                </c:pt>
                <c:pt idx="8">
                  <c:v>10월</c:v>
                </c:pt>
                <c:pt idx="9">
                  <c:v>11월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62.3</c:v>
                </c:pt>
                <c:pt idx="1">
                  <c:v>62.3</c:v>
                </c:pt>
                <c:pt idx="2">
                  <c:v>61.4</c:v>
                </c:pt>
                <c:pt idx="3">
                  <c:v>63.7</c:v>
                </c:pt>
                <c:pt idx="4">
                  <c:v>62.7</c:v>
                </c:pt>
                <c:pt idx="5">
                  <c:v>62.8</c:v>
                </c:pt>
                <c:pt idx="6">
                  <c:v>63.6</c:v>
                </c:pt>
                <c:pt idx="7">
                  <c:v>63.5</c:v>
                </c:pt>
                <c:pt idx="8">
                  <c:v>63.4</c:v>
                </c:pt>
                <c:pt idx="9">
                  <c:v>63.5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시험 월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국어/수학/탐구 평균 백분위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수능 이전 평균과 수능 평균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수능 이전 평균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90.6</c:v>
                </c:pt>
                <c:pt idx="1">
                  <c:v>78.8</c:v>
                </c:pt>
                <c:pt idx="2">
                  <c:v>62.7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수능 평균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92.9</c:v>
                </c:pt>
                <c:pt idx="1">
                  <c:v>81.9</c:v>
                </c:pt>
                <c:pt idx="2">
                  <c:v>65.8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핵심 평균 백분위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권역별 강점 유형 수능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균형형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94.3</c:v>
                </c:pt>
                <c:pt idx="1">
                  <c:v>84.3</c:v>
                </c:pt>
                <c:pt idx="2">
                  <c:v>66.2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국어형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94.9</c:v>
                </c:pt>
                <c:pt idx="1">
                  <c:v>79.1</c:v>
                </c:pt>
                <c:pt idx="2">
                  <c:v>67.5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수학형</c:v>
                </c:pt>
              </c:strCache>
            </c:strRef>
          </c:tx>
          <c:spPr>
            <a:solidFill>
              <a:srgbClr val="F2994A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88.0</c:v>
                </c:pt>
                <c:pt idx="1">
                  <c:v>79.2</c:v>
                </c:pt>
                <c:pt idx="2">
                  <c:v>60.5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탐구형</c:v>
                </c:pt>
              </c:strCache>
            </c:strRef>
          </c:tx>
          <c:spPr>
            <a:solidFill>
              <a:srgbClr val="EB5757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88.8</c:v>
                </c:pt>
                <c:pt idx="1">
                  <c:v>82.3</c:v>
                </c:pt>
                <c:pt idx="2">
                  <c:v>67.6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수능 핵심 평균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권역별 응시 횟수 수능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적게 응시(1-3회)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92.8</c:v>
                </c:pt>
                <c:pt idx="1">
                  <c:v>73.3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보통 응시(4-6회)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92.9</c:v>
                </c:pt>
                <c:pt idx="1">
                  <c:v>81.8</c:v>
                </c:pt>
                <c:pt idx="2">
                  <c:v>64.5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많이 응시(7회 이상)</c:v>
                </c:pt>
              </c:strCache>
            </c:strRef>
          </c:tx>
          <c:spPr>
            <a:solidFill>
              <a:srgbClr val="F2994A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92.9</c:v>
                </c:pt>
                <c:pt idx="1">
                  <c:v>82.3</c:v>
                </c:pt>
                <c:pt idx="2">
                  <c:v>66.3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수능 핵심 평균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권역별 변동성 수능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변동성 작음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</c:v>
                </c:pt>
                <c:pt idx="1">
                  <c:v>81.1</c:v>
                </c:pt>
                <c:pt idx="2">
                  <c:v>64.0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 큼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상위권</c:v>
                </c:pt>
                <c:pt idx="1">
                  <c:v>중위권</c:v>
                </c:pt>
                <c:pt idx="2">
                  <c:v>하위권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91.7</c:v>
                </c:pt>
                <c:pt idx="1">
                  <c:v>82.5</c:v>
                </c:pt>
                <c:pt idx="2">
                  <c:v>67.1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권역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수능 핵심 평균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강점 유형별 상향 이동률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상향 이동률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Sheet1!$A$2:$A$5</c:f>
              <c:strCache>
                <c:ptCount val="4"/>
                <c:pt idx="0">
                  <c:v>수학형</c:v>
                </c:pt>
                <c:pt idx="1">
                  <c:v>탐구형</c:v>
                </c:pt>
                <c:pt idx="2">
                  <c:v>균형형</c:v>
                </c:pt>
                <c:pt idx="3">
                  <c:v>국어형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8.3</c:v>
                </c:pt>
                <c:pt idx="2">
                  <c:v>15.4</c:v>
                </c:pt>
                <c:pt idx="3">
                  <c:v>17.2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강점 유형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상향 이동률(%)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탐구 변경 여부별 탐구 평균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수능 이전 탐구 평균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Sheet1!$A$2:$A$3</c:f>
              <c:strCache>
                <c:ptCount val="2"/>
                <c:pt idx="0">
                  <c:v>탐구 유지</c:v>
                </c:pt>
                <c:pt idx="1">
                  <c:v>탐구 변경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78.9</c:v>
                </c:pt>
                <c:pt idx="1">
                  <c:v>71.6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수능 탐구 평균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Sheet1!$A$2:$A$3</c:f>
              <c:strCache>
                <c:ptCount val="2"/>
                <c:pt idx="0">
                  <c:v>탐구 유지</c:v>
                </c:pt>
                <c:pt idx="1">
                  <c:v>탐구 변경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81.5</c:v>
                </c:pt>
                <c:pt idx="1">
                  <c:v>76.4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구분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탐구 평균 백분위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>
                <a:latin typeface="Malgun Gothic"/>
              </a:defRPr>
            </a:pPr>
            <a:r>
              <a:t>수능 핵심 평균 설명력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2F80ED"/>
            </a:solidFill>
          </c:spPr>
          <c:cat>
            <c:strRef>
              <c:f>Sheet1!$A$2:$A$7</c:f>
              <c:strCache>
                <c:ptCount val="6"/>
                <c:pt idx="0">
                  <c:v>Mean baseline</c:v>
                </c:pt>
                <c:pt idx="1">
                  <c:v>Gradient boosting</c:v>
                </c:pt>
                <c:pt idx="2">
                  <c:v>Linear regression</c:v>
                </c:pt>
                <c:pt idx="3">
                  <c:v>Random forest</c:v>
                </c:pt>
                <c:pt idx="4">
                  <c:v>Ridge regression</c:v>
                </c:pt>
                <c:pt idx="5">
                  <c:v>ElasticNet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-0.056</c:v>
                </c:pt>
                <c:pt idx="1">
                  <c:v>0.782</c:v>
                </c:pt>
                <c:pt idx="2">
                  <c:v>0.796</c:v>
                </c:pt>
                <c:pt idx="3">
                  <c:v>0.801</c:v>
                </c:pt>
                <c:pt idx="4">
                  <c:v>0.808</c:v>
                </c:pt>
                <c:pt idx="5">
                  <c:v>0.81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모델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pPr>
                  <a:defRPr sz="1000">
                    <a:latin typeface="Malgun Gothic"/>
                  </a:defRPr>
                </a:pPr>
                <a:r>
                  <a:t>5-fold 교차검증 R2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D3D"/>
                </a:solidFill>
                <a:latin typeface="Malgun Gothic"/>
              </a:defRPr>
            </a:pPr>
            <a:r>
              <a:t>샘플 재원생 모의고사-수능 결과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374151"/>
                </a:solidFill>
                <a:latin typeface="Malgun Gothic"/>
              </a:defRPr>
            </a:pPr>
            <a:r>
              <a:t>공개 데모용 | 개인별 예측이 아닌 상담 참고 패턴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데이터 출처: 공개용 더미(데모) · 전체 180명 · 수능결과 137명 · 분석 커버리지 137/180명 · 생성 2026-07-07T00:08:42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분석 대상: 수능 이전 모의고사 기록과 수능 결과가 모두 있는 137명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핵심 지표: 국어/수학/탐구1/탐구2 백분위 평균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  <a:latin typeface="Malgun Gothic"/>
              </a:defRPr>
            </a:pPr>
            <a:r>
              <a:t>원본 데이터와 중간 CSV는 비공개, 리포트와 시각화만 공유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핵심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28282"/>
                </a:solidFill>
                <a:latin typeface="Malgun Gothic"/>
              </a:defRPr>
            </a:pPr>
            <a:r>
              <a:t>학생에게는 '예측'보다 '샘플 데이터 패턴'으로 전달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상위권은 균형형 학생의 수능 결과가 가장 안정적으로 높았습니다.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중위권과 하위권은 일부 상향 이동 사례가 있으며, 약점 축 관리가 중요합니다.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응시 횟수는 인과가 아니지만, 4-6회 보통 응시 그룹이 비교적 안정적이었습니다.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상위권이라도 변동성이 큰 학생은 하락 위험을 함께 점검해야 합니다.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탐구 변경은 '바꾸면 오른다'가 아니라, 변경 후 충분히 검증할 시간이 있는지가 핵심입니다.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월별 상/중/하위권 평균 백분위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28282"/>
                </a:solidFill>
                <a:latin typeface="Malgun Gothic"/>
              </a:defRPr>
            </a:pPr>
            <a:r>
              <a:t>차트의 축 제목과 계열명은 PowerPoint에서 직접 수정 가능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34440"/>
          <a:ext cx="10972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828282"/>
                </a:solidFill>
                <a:latin typeface="Malgun Gothic"/>
              </a:defRPr>
            </a:pPr>
            <a:r>
              <a:t>상/중/하위권은 수능 이전 모의고사 핵심 평균의 3분위 기준입니다.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상/중/하위권별 수능 결과 요약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143000"/>
          <a:ext cx="67208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43800" y="1508760"/>
          <a:ext cx="3931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"/>
                <a:gridCol w="786384"/>
                <a:gridCol w="786384"/>
                <a:gridCol w="786384"/>
                <a:gridCol w="786384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상위 25%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상승률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하락률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8.7%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4.4%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17.4%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828282"/>
                </a:solidFill>
                <a:latin typeface="Malgun Gothic"/>
              </a:defRPr>
            </a:pPr>
            <a:r>
              <a:t>상위권은 높은 결과를 유지했고, 중위권/하위권은 일부 상승 사례가 확인됩니다.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성취권 x 과목 강점 유형별 수능 결과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143000"/>
          <a:ext cx="10972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828282"/>
                </a:solidFill>
                <a:latin typeface="Malgun Gothic"/>
              </a:defRPr>
            </a:pPr>
            <a:r>
              <a:t>상위권은 균형형이 가장 안정적이고, 하위권은 수학형의 상승 가능성이 상대적으로 두드러졌습니다.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응시 횟수별 수능 결과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143000"/>
          <a:ext cx="10972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828282"/>
                </a:solidFill>
                <a:latin typeface="Malgun Gothic"/>
              </a:defRPr>
            </a:pPr>
            <a:r>
              <a:t>응시 횟수는 인과가 아니라 재원 기간, 성실성, 시험 참여 성향이 섞인 지표로 해석합니다.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변동성별 수능 결과와 하락 위험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143000"/>
          <a:ext cx="6492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60920" y="1325880"/>
          <a:ext cx="4297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변동성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하락률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상위권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12.5%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중위권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작음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21.1%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하위권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변동성 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14.8%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828282"/>
                </a:solidFill>
                <a:latin typeface="Malgun Gothic"/>
              </a:defRPr>
            </a:pPr>
            <a:r>
              <a:t>상위권에서는 변동성이 큰 학생의 하락률이 더 높게 관찰됩니다.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계층 이동 분석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143000"/>
          <a:ext cx="53949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508760"/>
          <a:ext cx="5120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응시 횟수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학생 수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상향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하향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많이 응시(7회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10.8%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보통 응시(4-6회)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14.3%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적게 응시(1-3회)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46520" y="365760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전체 상향 이동: 16명(13.8%)</a:t>
            </a:r>
          </a:p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전체 유지: 85명(73.3%)</a:t>
            </a:r>
          </a:p>
          <a:p>
            <a:pPr>
              <a:spcAft>
                <a:spcPts val="800"/>
              </a:spcAft>
              <a:defRPr sz="1500">
                <a:solidFill>
                  <a:srgbClr val="374151"/>
                </a:solidFill>
                <a:latin typeface="Malgun Gothic"/>
              </a:defRPr>
            </a:pPr>
            <a:r>
              <a:t>전체 하향 이동: 15명(12.9%)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탐구 과목 변경 분석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" y="1143000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3640" y="1234440"/>
          <a:ext cx="5440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36"/>
                <a:gridCol w="1088136"/>
                <a:gridCol w="1088136"/>
                <a:gridCol w="1088136"/>
                <a:gridCol w="1088136"/>
              </a:tblGrid>
              <a:tr h="43760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변경 후-전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수능-변경 전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수능 이득률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-1.8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9월(사)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60.0%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9월(평)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75.0%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11월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828282"/>
                </a:solidFill>
                <a:latin typeface="Malgun Gothic"/>
              </a:defRPr>
            </a:pPr>
            <a:r>
              <a:t>탐구 변경 학생은 17명으로 표본이 작아, 시기별 결과는 참고 신호로만 해석합니다.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모델 설명력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828282"/>
                </a:solidFill>
                <a:latin typeface="Malgun Gothic"/>
              </a:defRPr>
            </a:pPr>
            <a:r>
              <a:t>개인별 예측기가 아니라 패턴 설명 방식 검증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143000"/>
          <a:ext cx="5943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40880" y="1417320"/>
          <a:ext cx="4297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2D3D"/>
                          </a:solidFill>
                          <a:latin typeface="Malgun Gothic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E6EC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ElasticNet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Ridge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74151"/>
                          </a:solidFill>
                          <a:latin typeface="Malgun Gothic"/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40880" y="3703320"/>
            <a:ext cx="4480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74151"/>
                </a:solidFill>
                <a:latin typeface="Malgun Gothic"/>
              </a:defRPr>
            </a:pPr>
            <a:r>
              <a:t>복잡한 모델이 압도적으로 앞서지 않았습니다.</a:t>
            </a:r>
          </a:p>
          <a:p>
            <a:pPr>
              <a:spcAft>
                <a:spcPts val="800"/>
              </a:spcAft>
              <a:defRPr sz="1400">
                <a:solidFill>
                  <a:srgbClr val="374151"/>
                </a:solidFill>
                <a:latin typeface="Malgun Gothic"/>
              </a:defRPr>
            </a:pPr>
            <a:r>
              <a:t>상담용 설명에는 선형 계열 지표가 더 안전합니다.</a:t>
            </a:r>
          </a:p>
          <a:p>
            <a:pPr>
              <a:spcAft>
                <a:spcPts val="800"/>
              </a:spcAft>
              <a:defRPr sz="1400">
                <a:solidFill>
                  <a:srgbClr val="374151"/>
                </a:solidFill>
                <a:latin typeface="Malgun Gothic"/>
              </a:defRPr>
            </a:pPr>
            <a:r>
              <a:t>수능 이전 평균, 수학 평균, 국어 평균이 핵심 설명 변수입니다.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3D"/>
                </a:solidFill>
                <a:latin typeface="Malgun Gothic"/>
              </a:defRPr>
            </a:pPr>
            <a:r>
              <a:t>담임 상담 활용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학생에게는 '성적 예측'이 아니라 '샘플 데이터 패턴'으로 설명합니다.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현재 위치는 월별 상/중/하위권 평균 흐름과 비교해 설명합니다.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상위권은 균형 유지와 변동성 관리가 핵심입니다.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중위권은 약점 축 보완과 계층 상향 가능성을 함께 봅니다.</a:t>
            </a:r>
          </a:p>
          <a:p>
            <a:pPr>
              <a:spcAft>
                <a:spcPts val="800"/>
              </a:spcAft>
              <a:defRPr sz="1800">
                <a:solidFill>
                  <a:srgbClr val="374151"/>
                </a:solidFill>
                <a:latin typeface="Malgun Gothic"/>
              </a:defRPr>
            </a:pPr>
            <a:r>
              <a:t>탐구 변경은 변경 후 검증 기록이 충분한지 반드시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828282"/>
                </a:solidFill>
                <a:latin typeface="Malgun Gothic"/>
              </a:defRPr>
            </a:pPr>
            <a:r>
              <a:t>모든 차트와 표는 PowerPoint에서 직접 수정 가능한 객체로 생성했습니다.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