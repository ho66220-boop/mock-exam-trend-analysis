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>
                <a:latin typeface="Malgun Gothic"/>
              </a:defRPr>
            </a:pPr>
            <a:r>
              <a:t>월별 평균 백분위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상위권</c:v>
                </c:pt>
              </c:strCache>
            </c:strRef>
          </c:tx>
          <c:spPr>
            <a:ln>
              <a:solidFill>
                <a:srgbClr val="2F80ED"/>
              </a:solidFill>
            </a:ln>
          </c:spPr>
          <c:cat>
            <c:strRef>
              <c:f>Sheet1!$A$2:$A$10</c:f>
              <c:strCache>
                <c:ptCount val="9"/>
                <c:pt idx="0">
                  <c:v>3월</c:v>
                </c:pt>
                <c:pt idx="1">
                  <c:v>4월</c:v>
                </c:pt>
                <c:pt idx="2">
                  <c:v>5월</c:v>
                </c:pt>
                <c:pt idx="3">
                  <c:v>6월</c:v>
                </c:pt>
                <c:pt idx="4">
                  <c:v>7월</c:v>
                </c:pt>
                <c:pt idx="5">
                  <c:v>8월</c:v>
                </c:pt>
                <c:pt idx="6">
                  <c:v>9월</c:v>
                </c:pt>
                <c:pt idx="7">
                  <c:v>10월</c:v>
                </c:pt>
                <c:pt idx="8">
                  <c:v>11월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89.0</c:v>
                </c:pt>
                <c:pt idx="1">
                  <c:v>90.9</c:v>
                </c:pt>
                <c:pt idx="2">
                  <c:v>89.6</c:v>
                </c:pt>
                <c:pt idx="3">
                  <c:v>89.5</c:v>
                </c:pt>
                <c:pt idx="4">
                  <c:v>90.2</c:v>
                </c:pt>
                <c:pt idx="5">
                  <c:v>90.4</c:v>
                </c:pt>
                <c:pt idx="6">
                  <c:v>92.4</c:v>
                </c:pt>
                <c:pt idx="7">
                  <c:v>91.5</c:v>
                </c:pt>
                <c:pt idx="8">
                  <c:v>91.9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중위권</c:v>
                </c:pt>
              </c:strCache>
            </c:strRef>
          </c:tx>
          <c:spPr>
            <a:ln>
              <a:solidFill>
                <a:srgbClr val="27AE60"/>
              </a:solidFill>
            </a:ln>
          </c:spPr>
          <c:cat>
            <c:strRef>
              <c:f>Sheet1!$A$2:$A$10</c:f>
              <c:strCache>
                <c:ptCount val="9"/>
                <c:pt idx="0">
                  <c:v>3월</c:v>
                </c:pt>
                <c:pt idx="1">
                  <c:v>4월</c:v>
                </c:pt>
                <c:pt idx="2">
                  <c:v>5월</c:v>
                </c:pt>
                <c:pt idx="3">
                  <c:v>6월</c:v>
                </c:pt>
                <c:pt idx="4">
                  <c:v>7월</c:v>
                </c:pt>
                <c:pt idx="5">
                  <c:v>8월</c:v>
                </c:pt>
                <c:pt idx="6">
                  <c:v>9월</c:v>
                </c:pt>
                <c:pt idx="7">
                  <c:v>10월</c:v>
                </c:pt>
                <c:pt idx="8">
                  <c:v>11월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76.5</c:v>
                </c:pt>
                <c:pt idx="1">
                  <c:v>77.6</c:v>
                </c:pt>
                <c:pt idx="2">
                  <c:v>77.7</c:v>
                </c:pt>
                <c:pt idx="3">
                  <c:v>76.9</c:v>
                </c:pt>
                <c:pt idx="4">
                  <c:v>79.2</c:v>
                </c:pt>
                <c:pt idx="5">
                  <c:v>78.7</c:v>
                </c:pt>
                <c:pt idx="6">
                  <c:v>79.5</c:v>
                </c:pt>
                <c:pt idx="7">
                  <c:v>81.1</c:v>
                </c:pt>
                <c:pt idx="8">
                  <c:v>81.0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하위권</c:v>
                </c:pt>
              </c:strCache>
            </c:strRef>
          </c:tx>
          <c:spPr>
            <a:ln>
              <a:solidFill>
                <a:srgbClr val="F2994A"/>
              </a:solidFill>
            </a:ln>
          </c:spPr>
          <c:cat>
            <c:strRef>
              <c:f>Sheet1!$A$2:$A$10</c:f>
              <c:strCache>
                <c:ptCount val="9"/>
                <c:pt idx="0">
                  <c:v>3월</c:v>
                </c:pt>
                <c:pt idx="1">
                  <c:v>4월</c:v>
                </c:pt>
                <c:pt idx="2">
                  <c:v>5월</c:v>
                </c:pt>
                <c:pt idx="3">
                  <c:v>6월</c:v>
                </c:pt>
                <c:pt idx="4">
                  <c:v>7월</c:v>
                </c:pt>
                <c:pt idx="5">
                  <c:v>8월</c:v>
                </c:pt>
                <c:pt idx="6">
                  <c:v>9월</c:v>
                </c:pt>
                <c:pt idx="7">
                  <c:v>10월</c:v>
                </c:pt>
                <c:pt idx="8">
                  <c:v>11월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62.3</c:v>
                </c:pt>
                <c:pt idx="1">
                  <c:v>62.3</c:v>
                </c:pt>
                <c:pt idx="2">
                  <c:v>61.4</c:v>
                </c:pt>
                <c:pt idx="3">
                  <c:v>63.7</c:v>
                </c:pt>
                <c:pt idx="4">
                  <c:v>62.7</c:v>
                </c:pt>
                <c:pt idx="5">
                  <c:v>62.8</c:v>
                </c:pt>
                <c:pt idx="6">
                  <c:v>63.6</c:v>
                </c:pt>
                <c:pt idx="7">
                  <c:v>63.4</c:v>
                </c:pt>
                <c:pt idx="8">
                  <c:v>63.5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>
                    <a:latin typeface="Malgun Gothic"/>
                  </a:defRPr>
                </a:pPr>
                <a:r>
                  <a:t>시험 월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900">
                    <a:latin typeface="Malgun Gothic"/>
                  </a:defRPr>
                </a:pPr>
                <a:r>
                  <a:t>국어/수학/탐구 평균 백분위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>
                <a:latin typeface="Malgun Gothic"/>
              </a:defRPr>
            </a:pPr>
            <a:r>
              <a:t>권역별 수능 이전 평균과 수능 평균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수능 이전 평균</c:v>
                </c:pt>
              </c:strCache>
            </c:strRef>
          </c:tx>
          <c:spPr>
            <a:solidFill>
              <a:srgbClr val="2F80ED"/>
            </a:solidFill>
          </c:spPr>
          <c:cat>
            <c:strRef>
              <c:f>Sheet1!$A$2:$A$4</c:f>
              <c:strCache>
                <c:ptCount val="3"/>
                <c:pt idx="0">
                  <c:v>상위권</c:v>
                </c:pt>
                <c:pt idx="1">
                  <c:v>중위권</c:v>
                </c:pt>
                <c:pt idx="2">
                  <c:v>하위권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90.6</c:v>
                </c:pt>
                <c:pt idx="1">
                  <c:v>78.8</c:v>
                </c:pt>
                <c:pt idx="2">
                  <c:v>62.7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수능 평균</c:v>
                </c:pt>
              </c:strCache>
            </c:strRef>
          </c:tx>
          <c:spPr>
            <a:solidFill>
              <a:srgbClr val="27AE60"/>
            </a:solidFill>
          </c:spPr>
          <c:cat>
            <c:strRef>
              <c:f>Sheet1!$A$2:$A$4</c:f>
              <c:strCache>
                <c:ptCount val="3"/>
                <c:pt idx="0">
                  <c:v>상위권</c:v>
                </c:pt>
                <c:pt idx="1">
                  <c:v>중위권</c:v>
                </c:pt>
                <c:pt idx="2">
                  <c:v>하위권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92.9</c:v>
                </c:pt>
                <c:pt idx="1">
                  <c:v>81.9</c:v>
                </c:pt>
                <c:pt idx="2">
                  <c:v>65.8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>
                    <a:latin typeface="Malgun Gothic"/>
                  </a:defRPr>
                </a:pPr>
                <a:r>
                  <a:t>권역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900">
                    <a:latin typeface="Malgun Gothic"/>
                  </a:defRPr>
                </a:pPr>
                <a:r>
                  <a:t>핵심 평균 백분위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>
                <a:latin typeface="Malgun Gothic"/>
              </a:defRPr>
            </a:pPr>
            <a:r>
              <a:t>성취권 x 과목 강점 유형별 수능 평균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균형형</c:v>
                </c:pt>
              </c:strCache>
            </c:strRef>
          </c:tx>
          <c:spPr>
            <a:solidFill>
              <a:srgbClr val="2F80ED"/>
            </a:solidFill>
          </c:spPr>
          <c:cat>
            <c:strRef>
              <c:f>Sheet1!$A$2:$A$4</c:f>
              <c:strCache>
                <c:ptCount val="3"/>
                <c:pt idx="0">
                  <c:v>상위권</c:v>
                </c:pt>
                <c:pt idx="1">
                  <c:v>중위권</c:v>
                </c:pt>
                <c:pt idx="2">
                  <c:v>하위권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94.3</c:v>
                </c:pt>
                <c:pt idx="1">
                  <c:v>84.3</c:v>
                </c:pt>
                <c:pt idx="2">
                  <c:v>66.2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국어형</c:v>
                </c:pt>
              </c:strCache>
            </c:strRef>
          </c:tx>
          <c:spPr>
            <a:solidFill>
              <a:srgbClr val="27AE60"/>
            </a:solidFill>
          </c:spPr>
          <c:cat>
            <c:strRef>
              <c:f>Sheet1!$A$2:$A$4</c:f>
              <c:strCache>
                <c:ptCount val="3"/>
                <c:pt idx="0">
                  <c:v>상위권</c:v>
                </c:pt>
                <c:pt idx="1">
                  <c:v>중위권</c:v>
                </c:pt>
                <c:pt idx="2">
                  <c:v>하위권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94.9</c:v>
                </c:pt>
                <c:pt idx="1">
                  <c:v>79.1</c:v>
                </c:pt>
                <c:pt idx="2">
                  <c:v>67.5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수학형</c:v>
                </c:pt>
              </c:strCache>
            </c:strRef>
          </c:tx>
          <c:spPr>
            <a:solidFill>
              <a:srgbClr val="F2994A"/>
            </a:solidFill>
          </c:spPr>
          <c:cat>
            <c:strRef>
              <c:f>Sheet1!$A$2:$A$4</c:f>
              <c:strCache>
                <c:ptCount val="3"/>
                <c:pt idx="0">
                  <c:v>상위권</c:v>
                </c:pt>
                <c:pt idx="1">
                  <c:v>중위권</c:v>
                </c:pt>
                <c:pt idx="2">
                  <c:v>하위권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88.0</c:v>
                </c:pt>
                <c:pt idx="1">
                  <c:v>79.2</c:v>
                </c:pt>
                <c:pt idx="2">
                  <c:v>60.5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탐구형</c:v>
                </c:pt>
              </c:strCache>
            </c:strRef>
          </c:tx>
          <c:spPr>
            <a:solidFill>
              <a:srgbClr val="EB5757"/>
            </a:solidFill>
          </c:spPr>
          <c:cat>
            <c:strRef>
              <c:f>Sheet1!$A$2:$A$4</c:f>
              <c:strCache>
                <c:ptCount val="3"/>
                <c:pt idx="0">
                  <c:v>상위권</c:v>
                </c:pt>
                <c:pt idx="1">
                  <c:v>중위권</c:v>
                </c:pt>
                <c:pt idx="2">
                  <c:v>하위권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88.8</c:v>
                </c:pt>
                <c:pt idx="1">
                  <c:v>82.3</c:v>
                </c:pt>
                <c:pt idx="2">
                  <c:v>67.6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>
                    <a:latin typeface="Malgun Gothic"/>
                  </a:defRPr>
                </a:pPr>
                <a:r>
                  <a:t>권역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900">
                    <a:latin typeface="Malgun Gothic"/>
                  </a:defRPr>
                </a:pPr>
                <a:r>
                  <a:t>수능 핵심 평균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>
                <a:latin typeface="Malgun Gothic"/>
              </a:defRPr>
            </a:pPr>
            <a:r>
              <a:t>성취권 x 응시 횟수별 수능 평균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적게 응시(1-3회)</c:v>
                </c:pt>
              </c:strCache>
            </c:strRef>
          </c:tx>
          <c:spPr>
            <a:solidFill>
              <a:srgbClr val="2F80ED"/>
            </a:solidFill>
          </c:spPr>
          <c:cat>
            <c:strRef>
              <c:f>Sheet1!$A$2:$A$4</c:f>
              <c:strCache>
                <c:ptCount val="3"/>
                <c:pt idx="0">
                  <c:v>상위권</c:v>
                </c:pt>
                <c:pt idx="1">
                  <c:v>중위권</c:v>
                </c:pt>
                <c:pt idx="2">
                  <c:v>하위권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92.8</c:v>
                </c:pt>
                <c:pt idx="1">
                  <c:v>73.3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보통 응시(4-6회)</c:v>
                </c:pt>
              </c:strCache>
            </c:strRef>
          </c:tx>
          <c:spPr>
            <a:solidFill>
              <a:srgbClr val="27AE60"/>
            </a:solidFill>
          </c:spPr>
          <c:cat>
            <c:strRef>
              <c:f>Sheet1!$A$2:$A$4</c:f>
              <c:strCache>
                <c:ptCount val="3"/>
                <c:pt idx="0">
                  <c:v>상위권</c:v>
                </c:pt>
                <c:pt idx="1">
                  <c:v>중위권</c:v>
                </c:pt>
                <c:pt idx="2">
                  <c:v>하위권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92.9</c:v>
                </c:pt>
                <c:pt idx="1">
                  <c:v>81.8</c:v>
                </c:pt>
                <c:pt idx="2">
                  <c:v>64.5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많이 응시(7회 이상)</c:v>
                </c:pt>
              </c:strCache>
            </c:strRef>
          </c:tx>
          <c:spPr>
            <a:solidFill>
              <a:srgbClr val="F2994A"/>
            </a:solidFill>
          </c:spPr>
          <c:cat>
            <c:strRef>
              <c:f>Sheet1!$A$2:$A$4</c:f>
              <c:strCache>
                <c:ptCount val="3"/>
                <c:pt idx="0">
                  <c:v>상위권</c:v>
                </c:pt>
                <c:pt idx="1">
                  <c:v>중위권</c:v>
                </c:pt>
                <c:pt idx="2">
                  <c:v>하위권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92.9</c:v>
                </c:pt>
                <c:pt idx="1">
                  <c:v>82.3</c:v>
                </c:pt>
                <c:pt idx="2">
                  <c:v>66.3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>
                    <a:latin typeface="Malgun Gothic"/>
                  </a:defRPr>
                </a:pPr>
                <a:r>
                  <a:t>권역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900">
                    <a:latin typeface="Malgun Gothic"/>
                  </a:defRPr>
                </a:pPr>
                <a:r>
                  <a:t>수능 핵심 평균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>
                <a:latin typeface="Malgun Gothic"/>
              </a:defRPr>
            </a:pPr>
            <a:r>
              <a:t>성취권 x 변동성별 수능 평균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변동성 작음</c:v>
                </c:pt>
              </c:strCache>
            </c:strRef>
          </c:tx>
          <c:spPr>
            <a:solidFill>
              <a:srgbClr val="2F80ED"/>
            </a:solidFill>
          </c:spPr>
          <c:cat>
            <c:strRef>
              <c:f>Sheet1!$A$2:$A$4</c:f>
              <c:strCache>
                <c:ptCount val="3"/>
                <c:pt idx="0">
                  <c:v>상위권</c:v>
                </c:pt>
                <c:pt idx="1">
                  <c:v>중위권</c:v>
                </c:pt>
                <c:pt idx="2">
                  <c:v>하위권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93.5</c:v>
                </c:pt>
                <c:pt idx="1">
                  <c:v>81.1</c:v>
                </c:pt>
                <c:pt idx="2">
                  <c:v>64.0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변동성 큼</c:v>
                </c:pt>
              </c:strCache>
            </c:strRef>
          </c:tx>
          <c:spPr>
            <a:solidFill>
              <a:srgbClr val="27AE60"/>
            </a:solidFill>
          </c:spPr>
          <c:cat>
            <c:strRef>
              <c:f>Sheet1!$A$2:$A$4</c:f>
              <c:strCache>
                <c:ptCount val="3"/>
                <c:pt idx="0">
                  <c:v>상위권</c:v>
                </c:pt>
                <c:pt idx="1">
                  <c:v>중위권</c:v>
                </c:pt>
                <c:pt idx="2">
                  <c:v>하위권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91.7</c:v>
                </c:pt>
                <c:pt idx="1">
                  <c:v>82.5</c:v>
                </c:pt>
                <c:pt idx="2">
                  <c:v>67.1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>
                    <a:latin typeface="Malgun Gothic"/>
                  </a:defRPr>
                </a:pPr>
                <a:r>
                  <a:t>권역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900">
                    <a:latin typeface="Malgun Gothic"/>
                  </a:defRPr>
                </a:pPr>
                <a:r>
                  <a:t>수능 핵심 평균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>
                <a:latin typeface="Malgun Gothic"/>
              </a:defRPr>
            </a:pPr>
            <a:r>
              <a:t>강점 유형별 상향 이동률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spPr>
            <a:solidFill>
              <a:srgbClr val="2F80ED"/>
            </a:solidFill>
          </c:spPr>
          <c:cat>
            <c:strRef>
              <c:f>Sheet1!$A$2:$A$5</c:f>
              <c:strCache>
                <c:ptCount val="4"/>
                <c:pt idx="0">
                  <c:v>수학형</c:v>
                </c:pt>
                <c:pt idx="1">
                  <c:v>탐구형</c:v>
                </c:pt>
                <c:pt idx="2">
                  <c:v>균형형</c:v>
                </c:pt>
                <c:pt idx="3">
                  <c:v>국어형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8.3</c:v>
                </c:pt>
                <c:pt idx="2">
                  <c:v>15.4</c:v>
                </c:pt>
                <c:pt idx="3">
                  <c:v>17.2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900">
                    <a:latin typeface="Malgun Gothic"/>
                  </a:defRPr>
                </a:pPr>
                <a:r>
                  <a:t>강점 유형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title>
          <c:tx>
            <c:rich>
              <a:bodyPr/>
              <a:lstStyle/>
              <a:p>
                <a:pPr>
                  <a:defRPr sz="900">
                    <a:latin typeface="Malgun Gothic"/>
                  </a:defRPr>
                </a:pPr>
                <a:r>
                  <a:t>상향 이동률(%)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>
                <a:latin typeface="Malgun Gothic"/>
              </a:defRPr>
            </a:pPr>
            <a:r>
              <a:t>탐구 변경 여부별 탐구 평균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수능 이전 탐구 평균</c:v>
                </c:pt>
              </c:strCache>
            </c:strRef>
          </c:tx>
          <c:spPr>
            <a:solidFill>
              <a:srgbClr val="2F80ED"/>
            </a:solidFill>
          </c:spPr>
          <c:cat>
            <c:strRef>
              <c:f>Sheet1!$A$2:$A$3</c:f>
              <c:strCache>
                <c:ptCount val="2"/>
                <c:pt idx="0">
                  <c:v>탐구 유지</c:v>
                </c:pt>
                <c:pt idx="1">
                  <c:v>탐구 변경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78.9</c:v>
                </c:pt>
                <c:pt idx="1">
                  <c:v>71.6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수능 탐구 평균</c:v>
                </c:pt>
              </c:strCache>
            </c:strRef>
          </c:tx>
          <c:spPr>
            <a:solidFill>
              <a:srgbClr val="27AE60"/>
            </a:solidFill>
          </c:spPr>
          <c:cat>
            <c:strRef>
              <c:f>Sheet1!$A$2:$A$3</c:f>
              <c:strCache>
                <c:ptCount val="2"/>
                <c:pt idx="0">
                  <c:v>탐구 유지</c:v>
                </c:pt>
                <c:pt idx="1">
                  <c:v>탐구 변경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81.5</c:v>
                </c:pt>
                <c:pt idx="1">
                  <c:v>76.4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>
                    <a:latin typeface="Malgun Gothic"/>
                  </a:defRPr>
                </a:pPr>
                <a:r>
                  <a:t>구분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pPr>
                  <a:defRPr sz="900">
                    <a:latin typeface="Malgun Gothic"/>
                  </a:defRPr>
                </a:pPr>
                <a:r>
                  <a:t>탐구 평균 백분위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400">
                <a:latin typeface="Malgun Gothic"/>
              </a:defRPr>
            </a:pPr>
            <a:r>
              <a:t>수능 핵심 평균 모델 설명력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spPr>
            <a:solidFill>
              <a:srgbClr val="2F80ED"/>
            </a:solidFill>
          </c:spPr>
          <c:cat>
            <c:strRef>
              <c:f>Sheet1!$A$2:$A$7</c:f>
              <c:strCache>
                <c:ptCount val="6"/>
                <c:pt idx="0">
                  <c:v>Mean baseline</c:v>
                </c:pt>
                <c:pt idx="1">
                  <c:v>Gradient boosting</c:v>
                </c:pt>
                <c:pt idx="2">
                  <c:v>Linear regression</c:v>
                </c:pt>
                <c:pt idx="3">
                  <c:v>Random forest</c:v>
                </c:pt>
                <c:pt idx="4">
                  <c:v>Ridge regression</c:v>
                </c:pt>
                <c:pt idx="5">
                  <c:v>ElasticNet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-0.056</c:v>
                </c:pt>
                <c:pt idx="1">
                  <c:v>0.782</c:v>
                </c:pt>
                <c:pt idx="2">
                  <c:v>0.796</c:v>
                </c:pt>
                <c:pt idx="3">
                  <c:v>0.801</c:v>
                </c:pt>
                <c:pt idx="4">
                  <c:v>0.808</c:v>
                </c:pt>
                <c:pt idx="5">
                  <c:v>0.81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>
                  <a:latin typeface="Malgun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title>
          <c:tx>
            <c:rich>
              <a:bodyPr/>
              <a:lstStyle/>
              <a:p>
                <a:pPr>
                  <a:defRPr sz="900">
                    <a:latin typeface="Malgun Gothic"/>
                  </a:defRPr>
                </a:pPr>
                <a:r>
                  <a:t>모델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title>
          <c:tx>
            <c:rich>
              <a:bodyPr/>
              <a:lstStyle/>
              <a:p>
                <a:pPr>
                  <a:defRPr sz="900">
                    <a:latin typeface="Malgun Gothic"/>
                  </a:defRPr>
                </a:pPr>
                <a:r>
                  <a:t>5-fold R2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7899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D3D"/>
                </a:solidFill>
                <a:latin typeface="Malgun Gothic"/>
              </a:defRPr>
            </a:pPr>
            <a:r>
              <a:t>샘플 재원생 모의고사-수능 결과 인사이트 종합 리포트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5740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374151"/>
                </a:solidFill>
                <a:latin typeface="Malgun Gothic"/>
              </a:defRPr>
            </a:pPr>
            <a:r>
              <a:t>공개 데모용 | 더미 데이터 기반 예시 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71800"/>
            <a:ext cx="1097280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74151"/>
                </a:solidFill>
                <a:latin typeface="Malgun Gothic"/>
              </a:defRPr>
            </a:pPr>
            <a:r>
              <a:t>개인별 수능 성적을 단정적으로 예측하지 않습니다.</a:t>
            </a:r>
          </a:p>
          <a:p>
            <a:pPr>
              <a:spcAft>
                <a:spcPts val="800"/>
              </a:spcAft>
              <a:defRPr sz="1700">
                <a:solidFill>
                  <a:srgbClr val="374151"/>
                </a:solidFill>
                <a:latin typeface="Malgun Gothic"/>
              </a:defRPr>
            </a:pPr>
            <a:r>
              <a:t>샘플 재원생의 학습 패턴과 수능 결과의 관계를 상담 참고 신호로 정리합니다.</a:t>
            </a:r>
          </a:p>
          <a:p>
            <a:pPr>
              <a:spcAft>
                <a:spcPts val="800"/>
              </a:spcAft>
              <a:defRPr sz="1700">
                <a:solidFill>
                  <a:srgbClr val="374151"/>
                </a:solidFill>
                <a:latin typeface="Malgun Gothic"/>
              </a:defRPr>
            </a:pPr>
            <a:r>
              <a:t>모든 차트와 표는 PPT에서 직접 수정 가능한 객체입니다.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데이터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1097280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74151"/>
                </a:solidFill>
                <a:latin typeface="Malgun Gothic"/>
              </a:defRPr>
            </a:pPr>
            <a:r>
              <a:t>분석 대상: 수능 이전 모의고사 기록과 수능 결과가 모두 있는 116명</a:t>
            </a:r>
          </a:p>
          <a:p>
            <a:pPr>
              <a:spcAft>
                <a:spcPts val="800"/>
              </a:spcAft>
              <a:defRPr sz="1700">
                <a:solidFill>
                  <a:srgbClr val="374151"/>
                </a:solidFill>
                <a:latin typeface="Malgun Gothic"/>
              </a:defRPr>
            </a:pPr>
            <a:r>
              <a:t>핵심 성과 지표: 국어, 수학, 탐구1, 탐구2 백분위 평균</a:t>
            </a:r>
          </a:p>
          <a:p>
            <a:pPr>
              <a:spcAft>
                <a:spcPts val="800"/>
              </a:spcAft>
              <a:defRPr sz="1700">
                <a:solidFill>
                  <a:srgbClr val="374151"/>
                </a:solidFill>
                <a:latin typeface="Malgun Gothic"/>
              </a:defRPr>
            </a:pPr>
            <a:r>
              <a:t>영어는 등급 자료이므로 핵심 평균에는 포함하지 않고 보조 지표로 활용</a:t>
            </a:r>
          </a:p>
          <a:p>
            <a:pPr>
              <a:spcAft>
                <a:spcPts val="800"/>
              </a:spcAft>
              <a:defRPr sz="1700">
                <a:solidFill>
                  <a:srgbClr val="374151"/>
                </a:solidFill>
                <a:latin typeface="Malgun Gothic"/>
              </a:defRPr>
            </a:pPr>
            <a:r>
              <a:t>점수 0은 미응시 또는 미기록 가능성이 높아 결측값 처리</a:t>
            </a:r>
          </a:p>
          <a:p>
            <a:pPr>
              <a:spcAft>
                <a:spcPts val="800"/>
              </a:spcAft>
              <a:defRPr sz="1700">
                <a:solidFill>
                  <a:srgbClr val="374151"/>
                </a:solidFill>
                <a:latin typeface="Malgun Gothic"/>
              </a:defRPr>
            </a:pPr>
            <a:r>
              <a:t>상위권/중위권/하위권은 수능 이전 모의고사 핵심 평균의 3분위 기준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월별 상/중/하위권 평균 백분위 흐름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94360" y="1051560"/>
          <a:ext cx="731520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138160" y="1234440"/>
          <a:ext cx="338328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5820"/>
                <a:gridCol w="845820"/>
                <a:gridCol w="845820"/>
                <a:gridCol w="845820"/>
              </a:tblGrid>
              <a:tr h="374903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월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상위권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중위권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하위권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374903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3월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76.5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62.3</a:t>
                      </a:r>
                    </a:p>
                  </a:txBody>
                  <a:tcPr/>
                </a:tc>
              </a:tr>
              <a:tr h="374903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77.6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62.3</a:t>
                      </a:r>
                    </a:p>
                  </a:txBody>
                  <a:tcPr/>
                </a:tc>
              </a:tr>
              <a:tr h="374903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5월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77.7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61.4</a:t>
                      </a:r>
                    </a:p>
                  </a:txBody>
                  <a:tcPr/>
                </a:tc>
              </a:tr>
              <a:tr h="374903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76.9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63.7</a:t>
                      </a:r>
                    </a:p>
                  </a:txBody>
                  <a:tcPr/>
                </a:tc>
              </a:tr>
              <a:tr h="374903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7월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79.2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62.7</a:t>
                      </a:r>
                    </a:p>
                  </a:txBody>
                  <a:tcPr/>
                </a:tc>
              </a:tr>
              <a:tr h="374903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78.7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62.8</a:t>
                      </a:r>
                    </a:p>
                  </a:txBody>
                  <a:tcPr/>
                </a:tc>
              </a:tr>
              <a:tr h="374903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92.4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79.5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63.6</a:t>
                      </a:r>
                    </a:p>
                  </a:txBody>
                  <a:tcPr/>
                </a:tc>
              </a:tr>
              <a:tr h="374903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10월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63.4</a:t>
                      </a:r>
                    </a:p>
                  </a:txBody>
                  <a:tcPr/>
                </a:tc>
              </a:tr>
              <a:tr h="374912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11월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63.5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전체 요약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94360" y="1051560"/>
          <a:ext cx="685800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635240" y="1417320"/>
          <a:ext cx="38404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68096"/>
                <a:gridCol w="768096"/>
                <a:gridCol w="768096"/>
                <a:gridCol w="768096"/>
                <a:gridCol w="768096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학생 수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상위 25%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상승률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하락률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상위권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8.7%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중위권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4.4%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하위권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34.8%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17.4%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6263640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6B7280"/>
                </a:solidFill>
                <a:latin typeface="Malgun Gothic"/>
              </a:defRPr>
            </a:pPr>
            <a:r>
              <a:t>하위권은 상승률이 존재하더라도 상위권 진입 비율은 낮아 기본 성취 수준 관리가 중요합니다.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과목 강점 유형별 인사이트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94360" y="1051560"/>
          <a:ext cx="1097280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6263640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6B7280"/>
                </a:solidFill>
                <a:latin typeface="Malgun Gothic"/>
              </a:defRPr>
            </a:pPr>
            <a:r>
              <a:t>상위권에서는 균형형 학생의 수능 결과가 가장 안정적으로 높았습니다.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과목 강점 유형별 상세표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960120"/>
          <a:ext cx="1115568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  <a:gridCol w="1859280"/>
                <a:gridCol w="1859280"/>
                <a:gridCol w="1859280"/>
              </a:tblGrid>
              <a:tr h="407963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권역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강점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학생 수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수능 평균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상승률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하락률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407963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상위권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국어형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407963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상위권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균형형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34.5%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3.4%</a:t>
                      </a:r>
                    </a:p>
                  </a:txBody>
                  <a:tcPr/>
                </a:tc>
              </a:tr>
              <a:tr h="407963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상위권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탐구형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14.3%</a:t>
                      </a:r>
                    </a:p>
                  </a:txBody>
                  <a:tcPr/>
                </a:tc>
              </a:tr>
              <a:tr h="407963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상위권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수학형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40.0%</a:t>
                      </a:r>
                    </a:p>
                  </a:txBody>
                  <a:tcPr/>
                </a:tc>
              </a:tr>
              <a:tr h="407963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중위권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균형형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5.6%</a:t>
                      </a:r>
                    </a:p>
                  </a:txBody>
                  <a:tcPr/>
                </a:tc>
              </a:tr>
              <a:tr h="407963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중위권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탐구형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407963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중위권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수학형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79.2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407963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중위권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국어형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79.1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9.1%</a:t>
                      </a:r>
                    </a:p>
                  </a:txBody>
                  <a:tcPr/>
                </a:tc>
              </a:tr>
              <a:tr h="407963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하위권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탐구형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28.6%</a:t>
                      </a:r>
                    </a:p>
                  </a:txBody>
                  <a:tcPr/>
                </a:tc>
              </a:tr>
              <a:tr h="407963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하위권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국어형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23.1%</a:t>
                      </a:r>
                    </a:p>
                  </a:txBody>
                  <a:tcPr/>
                </a:tc>
              </a:tr>
              <a:tr h="407963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하위권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균형형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11.1%</a:t>
                      </a:r>
                    </a:p>
                  </a:txBody>
                  <a:tcPr/>
                </a:tc>
              </a:tr>
              <a:tr h="407964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하위권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수학형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12.5%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응시 횟수별 인사이트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94360" y="1051560"/>
          <a:ext cx="740664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183879" y="1143000"/>
          <a:ext cx="35204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4088"/>
                <a:gridCol w="704088"/>
                <a:gridCol w="704088"/>
                <a:gridCol w="704088"/>
                <a:gridCol w="704088"/>
              </a:tblGrid>
              <a:tr h="467360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권역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응시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학생 수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수능 평균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상위 25%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467360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상위권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보통 응시(4-6회)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69.2%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상위권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많이 응시(7회 이상)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62.5%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상위권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적게 응시(1-3회)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중위권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많이 응시(7회 이상)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7.1%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중위권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보통 응시(4-6회)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18.8%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중위권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적게 응시(1-3회)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73.3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하위권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많이 응시(7회 이상)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467360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하위권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보통 응시(4-6회)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변동성별 인사이트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94360" y="1051560"/>
          <a:ext cx="658368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60920" y="1143000"/>
          <a:ext cx="4251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8660"/>
                <a:gridCol w="708660"/>
                <a:gridCol w="708660"/>
                <a:gridCol w="708660"/>
                <a:gridCol w="708660"/>
                <a:gridCol w="708660"/>
              </a:tblGrid>
              <a:tr h="522514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권역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변동성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학생 수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수능 평균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수능-이전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하락률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상위권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작음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6.7%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상위권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12.5%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중위권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작음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5.3%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중위권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3.8%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하위권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작음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21.1%</a:t>
                      </a:r>
                    </a:p>
                  </a:txBody>
                  <a:tcPr/>
                </a:tc>
              </a:tr>
              <a:tr h="522516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하위권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14.8%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계층 이동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36576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algun Gothic"/>
              </a:defRPr>
            </a:pPr>
            <a:r>
              <a:t>상향 이동: 17명 (12.4%)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algun Gothic"/>
              </a:defRPr>
            </a:pPr>
            <a:r>
              <a:t>유지: 103명 (75.2%)</a:t>
            </a:r>
          </a:p>
          <a:p>
            <a:pPr>
              <a:spcAft>
                <a:spcPts val="800"/>
              </a:spcAft>
              <a:defRPr sz="1800">
                <a:solidFill>
                  <a:srgbClr val="374151"/>
                </a:solidFill>
                <a:latin typeface="Malgun Gothic"/>
              </a:defRPr>
            </a:pPr>
            <a:r>
              <a:t>하향 이동: 17명 (12.4%)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617720" y="1051560"/>
          <a:ext cx="676656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3657600"/>
          <a:ext cx="47548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0976"/>
                <a:gridCol w="950976"/>
                <a:gridCol w="950976"/>
                <a:gridCol w="950976"/>
                <a:gridCol w="950976"/>
              </a:tblGrid>
              <a:tr h="3886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응시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학생 수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상향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하향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평균 이동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많이 응시(7회 이상)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보통 응시(4-6회)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-0.0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적게 응시(1-3회)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-0.5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06440" y="3657600"/>
          <a:ext cx="50292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005840"/>
                <a:gridCol w="1005840"/>
                <a:gridCol w="1005840"/>
                <a:gridCol w="10058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변동성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학생 수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상향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하향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평균 이동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작음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-0.1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계층 이동이 활발한 세부 유형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960120"/>
          <a:ext cx="1143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750"/>
                <a:gridCol w="1428750"/>
                <a:gridCol w="1428750"/>
                <a:gridCol w="1428750"/>
                <a:gridCol w="1428750"/>
                <a:gridCol w="1428750"/>
                <a:gridCol w="1428750"/>
                <a:gridCol w="142875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시작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강점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응시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변동성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학생 수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상향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하향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평균 이동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중위권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균형형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보통 응시(4-6회)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하위권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국어형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많이 응시(7회 이상)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중위권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균형형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많이 응시(7회 이상)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중위권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균형형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많이 응시(7회 이상)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작음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0.4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하위권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균형형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많이 응시(7회 이상)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0.3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하위권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균형형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많이 응시(7회 이상)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작음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0.2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하위권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균형형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보통 응시(4-6회)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0.0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하위권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탐구형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많이 응시(7회 이상)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작음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94360" y="6263640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6B7280"/>
                </a:solidFill>
                <a:latin typeface="Malgun Gothic"/>
              </a:defRPr>
            </a:pPr>
            <a:r>
              <a:t>표본 수가 작은 조합은 '작년 데이터에서 관찰된 사례'로만 표현하는 것이 안전합니다.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전달용 핵심 세그먼트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20040" y="868680"/>
          <a:ext cx="1156716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2451"/>
                <a:gridCol w="1652451"/>
                <a:gridCol w="1652451"/>
                <a:gridCol w="1652451"/>
                <a:gridCol w="1652451"/>
                <a:gridCol w="1652451"/>
                <a:gridCol w="1652454"/>
              </a:tblGrid>
              <a:tr h="490450">
                <a:tc>
                  <a:txBody>
                    <a:bodyPr/>
                    <a:lstStyle/>
                    <a:p>
                      <a:pPr algn="ctr">
                        <a:defRPr sz="6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권역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강점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응시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변동성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학생 수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수능 평균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전달 메시지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490450"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상위권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균형형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보통 응시(4-6회)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수능 결과가 강한 조합 / 수능 상승 사례 비율 높음 / 월별 흔들림 점검 필요 / 균형 유지 전략 유효</a:t>
                      </a:r>
                    </a:p>
                  </a:txBody>
                  <a:tcPr/>
                </a:tc>
              </a:tr>
              <a:tr h="490450"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상위권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균형형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많이 응시(7회 이상)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작음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수능 결과가 강한 조합 / 균형 유지 전략 유효</a:t>
                      </a:r>
                    </a:p>
                  </a:txBody>
                  <a:tcPr/>
                </a:tc>
              </a:tr>
              <a:tr h="490450"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상위권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균형형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보통 응시(4-6회)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작음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수능 결과가 강한 조합 / 균형 유지 전략 유효</a:t>
                      </a:r>
                    </a:p>
                  </a:txBody>
                  <a:tcPr/>
                </a:tc>
              </a:tr>
              <a:tr h="490450"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상위권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균형형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많이 응시(7회 이상)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수능 결과가 강한 조합 / 수능 상승 사례 비율 높음 / 월별 흔들림 점검 필요 / 균형 유지 전략 유효</a:t>
                      </a:r>
                    </a:p>
                  </a:txBody>
                  <a:tcPr/>
                </a:tc>
              </a:tr>
              <a:tr h="490450"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상위권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탐구형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많이 응시(7회 이상)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작음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수능 결과가 강한 조합 / 약한 축 보완이 핵심</a:t>
                      </a:r>
                    </a:p>
                  </a:txBody>
                  <a:tcPr/>
                </a:tc>
              </a:tr>
              <a:tr h="490450"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상위권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탐구형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많이 응시(7회 이상)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수능 결과가 강한 조합 / 수능 하락 위험 관찰 / 월별 흔들림 점검 필요 / 약한 축 보완이 핵심</a:t>
                      </a:r>
                    </a:p>
                  </a:txBody>
                  <a:tcPr/>
                </a:tc>
              </a:tr>
              <a:tr h="490450"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상위권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수학형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보통 응시(4-6회)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작음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수능 결과가 강한 조합 / 수능 하락 위험 관찰 / 약한 축 보완이 핵심</a:t>
                      </a:r>
                    </a:p>
                  </a:txBody>
                  <a:tcPr/>
                </a:tc>
              </a:tr>
              <a:tr h="490450"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중위권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균형형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많이 응시(7회 이상)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작음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수능 결과가 강한 조합 / 수능 상승 사례 비율 높음 / 균형 유지 전략 유효</a:t>
                      </a:r>
                    </a:p>
                  </a:txBody>
                  <a:tcPr/>
                </a:tc>
              </a:tr>
              <a:tr h="490450"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중위권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균형형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많이 응시(7회 이상)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중간권 유지 조합 / 수능 상승 사례 비율 높음 / 월별 흔들림 점검 필요 / 균형 유지 전략 유효</a:t>
                      </a:r>
                    </a:p>
                  </a:txBody>
                  <a:tcPr/>
                </a:tc>
              </a:tr>
              <a:tr h="490460"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중위권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균형형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보통 응시(4-6회)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변동성 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중간권 유지 조합 / 수능 상승 사례 비율 높음 / 월별 흔들림 점검 필요 / 균형 유지 전략 유효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탐구 과목 변경 인사이트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94360" y="1051560"/>
          <a:ext cx="521208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80760" y="1097280"/>
          <a:ext cx="5486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533400"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변경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후-전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수능-전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수능-후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수능 이득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-2.2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-1.8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50.0%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66.7%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10월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11월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20.1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6263640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6B7280"/>
                </a:solidFill>
                <a:latin typeface="Malgun Gothic"/>
              </a:defRPr>
            </a:pPr>
            <a:r>
              <a:t>탐구 변경 학생은 17명으로 표본이 작아 시기별 결론은 참고 신호로만 해석합니다.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모의고사 지표와 수능 결과의 관계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51560"/>
          <a:ext cx="54864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4267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과목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수능 이전 지표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표본 수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상관계수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국어 백분위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korean_mean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0.895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국어 백분위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korean_recent2_mean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0.888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수학 백분위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math_mean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0.888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탐구2 백분위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inquiry2_recent2_mean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0.880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탐구2 백분위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inquiry2_mean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0.873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수학 백분위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math_recent2_mean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0.872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탐구1 백분위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inquiry1_recent2_mean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0.865</a:t>
                      </a:r>
                    </a:p>
                  </a:txBody>
                  <a:tcPr/>
                </a:tc>
              </a:tr>
              <a:tr h="426720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수학 백분위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math_best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0.856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92240" y="1371600"/>
            <a:ext cx="5029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74151"/>
                </a:solidFill>
                <a:latin typeface="Malgun Gothic"/>
              </a:defRPr>
            </a:pPr>
            <a:r>
              <a:t>수능 결과와 가장 강하게 연결된 지표는 특정 시험 한 번보다 수능 이전 평균과 최근 평균이었습니다.</a:t>
            </a:r>
          </a:p>
          <a:p>
            <a:pPr>
              <a:spcAft>
                <a:spcPts val="800"/>
              </a:spcAft>
              <a:defRPr sz="1600">
                <a:solidFill>
                  <a:srgbClr val="374151"/>
                </a:solidFill>
                <a:latin typeface="Malgun Gothic"/>
              </a:defRPr>
            </a:pPr>
            <a:r>
              <a:t>특히 수학 평균, 국어 평균 지표가 강하게 나타났습니다.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시험별 수능과의 차이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09728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8768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과목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수능과 가까운 시험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표본 수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평균 절대 차이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상관계수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국어 백분위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11월 메가대성 더 프리미엄 모의고사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0.846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수학 백분위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10월 메가대성 더 프리미엄 모의고사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0.841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영어 등급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11월 메가대성 더 프리미엄 모의고사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0.637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탐구1 백분위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9월 평가원 모의고사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0.827</a:t>
                      </a:r>
                    </a:p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탐구2 백분위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10월 메가대성 더 프리미엄 모의고사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0.871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모델 설명력 비교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94360" y="1097280"/>
          <a:ext cx="621792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178040" y="1234440"/>
          <a:ext cx="4206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248"/>
                <a:gridCol w="841248"/>
                <a:gridCol w="841248"/>
                <a:gridCol w="841248"/>
                <a:gridCol w="841248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모델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표본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R2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MAE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1F2D3D"/>
                          </a:solidFill>
                          <a:latin typeface="Malgun Gothic"/>
                        </a:defRPr>
                      </a:pPr>
                      <a:r>
                        <a:t>RMSE</a:t>
                      </a:r>
                    </a:p>
                  </a:txBody>
                  <a:tcPr>
                    <a:solidFill>
                      <a:srgbClr val="E6ECF5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ElasticNet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0.810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5.6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Ridge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0.808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5.6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0.801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5.8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Linear regression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0.796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5.8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Gradient 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0.782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6.0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Mean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-0.056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solidFill>
                            <a:srgbClr val="374151"/>
                          </a:solidFill>
                          <a:latin typeface="Malgun Gothic"/>
                        </a:defRPr>
                      </a:pPr>
                      <a:r>
                        <a:t>13.5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6263640"/>
            <a:ext cx="109728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0">
                <a:solidFill>
                  <a:srgbClr val="6B7280"/>
                </a:solidFill>
                <a:latin typeface="Malgun Gothic"/>
              </a:defRPr>
            </a:pPr>
            <a:r>
              <a:t>개인별 예측기가 아니라 현재 데이터에서 어떤 설명 방식이 타당한지 확인하는 비교입니다.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학생에게 전달할 때의 표현 예시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97280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74151"/>
                </a:solidFill>
                <a:latin typeface="Malgun Gothic"/>
              </a:defRPr>
            </a:pPr>
            <a:r>
              <a:t>샘플 데이터에서는 상위권 학생 중 국어, 수학, 탐구가 고르게 받쳐주는 균형형 학생의 수능 결과가 가장 안정적으로 높았습니다.</a:t>
            </a:r>
          </a:p>
          <a:p>
            <a:pPr>
              <a:spcAft>
                <a:spcPts val="800"/>
              </a:spcAft>
              <a:defRPr sz="1500">
                <a:solidFill>
                  <a:srgbClr val="374151"/>
                </a:solidFill>
                <a:latin typeface="Malgun Gothic"/>
              </a:defRPr>
            </a:pPr>
            <a:r>
              <a:t>월별 평균 백분위 흐름을 보면 권역별 격차와 유지 양상이 드러나므로, 학생에게 현재 위치와 변화 방향을 설명하는 데 활용할 수 있습니다.</a:t>
            </a:r>
          </a:p>
          <a:p>
            <a:pPr>
              <a:spcAft>
                <a:spcPts val="800"/>
              </a:spcAft>
              <a:defRPr sz="1500">
                <a:solidFill>
                  <a:srgbClr val="374151"/>
                </a:solidFill>
                <a:latin typeface="Malgun Gothic"/>
              </a:defRPr>
            </a:pPr>
            <a:r>
              <a:t>샘플 데이터에서는 같은 계층을 유지한 학생이 가장 많고, 일부 상향/하향 이동 사례가 관찰됩니다.</a:t>
            </a:r>
          </a:p>
          <a:p>
            <a:pPr>
              <a:spcAft>
                <a:spcPts val="800"/>
              </a:spcAft>
              <a:defRPr sz="1500">
                <a:solidFill>
                  <a:srgbClr val="374151"/>
                </a:solidFill>
                <a:latin typeface="Malgun Gothic"/>
              </a:defRPr>
            </a:pPr>
            <a:r>
              <a:t>상위권이라도 월별 성적 변동이 큰 학생은 수능에서 하락한 사례가 더 많이 관찰되어, 흔들림 관리가 중요합니다.</a:t>
            </a:r>
          </a:p>
          <a:p>
            <a:pPr>
              <a:spcAft>
                <a:spcPts val="800"/>
              </a:spcAft>
              <a:defRPr sz="1500">
                <a:solidFill>
                  <a:srgbClr val="374151"/>
                </a:solidFill>
                <a:latin typeface="Malgun Gothic"/>
              </a:defRPr>
            </a:pPr>
            <a:r>
              <a:t>탐구 과목 변경은 변경 자체의 효과보다 변경 전후에 충분한 검증 기록을 확보했는지가 더 중요해 보입니다.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3D"/>
                </a:solidFill>
                <a:latin typeface="Malgun Gothic"/>
              </a:defRPr>
            </a:pPr>
            <a:r>
              <a:t>해석 주의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1097280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374151"/>
                </a:solidFill>
                <a:latin typeface="Malgun Gothic"/>
              </a:defRPr>
            </a:pPr>
            <a:r>
              <a:t>본 분석은 샘플 데이터의 패턴 요약이며 개인별 결과를 보장하지 않습니다.</a:t>
            </a:r>
          </a:p>
          <a:p>
            <a:pPr>
              <a:spcAft>
                <a:spcPts val="800"/>
              </a:spcAft>
              <a:defRPr sz="1700">
                <a:solidFill>
                  <a:srgbClr val="374151"/>
                </a:solidFill>
                <a:latin typeface="Malgun Gothic"/>
              </a:defRPr>
            </a:pPr>
            <a:r>
              <a:t>표본 수가 작은 세그먼트는 방향성 참고용으로만 사용해야 합니다.</a:t>
            </a:r>
          </a:p>
          <a:p>
            <a:pPr>
              <a:spcAft>
                <a:spcPts val="800"/>
              </a:spcAft>
              <a:defRPr sz="1700">
                <a:solidFill>
                  <a:srgbClr val="374151"/>
                </a:solidFill>
                <a:latin typeface="Malgun Gothic"/>
              </a:defRPr>
            </a:pPr>
            <a:r>
              <a:t>응시 횟수와 수능 결과의 관계는 인과가 아니라 상관 또는 집단 특성의 반영일 수 있습니다.</a:t>
            </a:r>
          </a:p>
          <a:p>
            <a:pPr>
              <a:spcAft>
                <a:spcPts val="800"/>
              </a:spcAft>
              <a:defRPr sz="1700">
                <a:solidFill>
                  <a:srgbClr val="374151"/>
                </a:solidFill>
                <a:latin typeface="Malgun Gothic"/>
              </a:defRPr>
            </a:pPr>
            <a:r>
              <a:t>계층 이동은 3분위 기준의 상대적 이동이므로 경계 부근 학생은 작은 점수 변화로도 이동할 수 있습니다.</a:t>
            </a:r>
          </a:p>
          <a:p>
            <a:pPr>
              <a:spcAft>
                <a:spcPts val="800"/>
              </a:spcAft>
              <a:defRPr sz="1700">
                <a:solidFill>
                  <a:srgbClr val="374151"/>
                </a:solidFill>
                <a:latin typeface="Malgun Gothic"/>
              </a:defRPr>
            </a:pPr>
            <a:r>
              <a:t>탐구 변경 분석은 표본 수가 작아 시기별 결론을 강하게 일반화하면 안 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